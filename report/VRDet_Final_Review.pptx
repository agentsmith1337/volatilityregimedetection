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9" r:id="rId2"/>
    <p:sldId id="260" r:id="rId4"/>
    <p:sldId id="261" r:id="rId5"/>
    <p:sldId id="270" r:id="rId6"/>
    <p:sldId id="263" r:id="rId8"/>
    <p:sldId id="265" r:id="rId9"/>
    <p:sldId id="271" r:id="rId10"/>
    <p:sldId id="272" r:id="rId11"/>
    <p:sldId id="267" r:id="rId12"/>
    <p:sldId id="266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F1F1F"/>
                </a:solidFill>
                <a:latin typeface="Times New Roman"/>
              </a:rPr>
              <a:t>Macro-F1, walk-forward test 2022–2026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Macro-F1, walk-forward 2022–26</c:v>
                </c:pt>
              </c:strCache>
            </c:strRef>
          </c:tx>
          <c:dPt>
            <c:idx val="0"/>
            <c:spPr>
              <a:solidFill>
                <a:srgbClr val="9AA3AD"/>
              </a:solidFill>
            </c:spPr>
          </c:dPt>
          <c:dPt>
            <c:idx val="1"/>
            <c:spPr>
              <a:solidFill>
                <a:srgbClr val="9AA3AD"/>
              </a:solidFill>
            </c:spPr>
          </c:dPt>
          <c:dPt>
            <c:idx val="2"/>
            <c:spPr>
              <a:solidFill>
                <a:srgbClr val="EB6834"/>
              </a:solidFill>
            </c:spPr>
          </c:dPt>
          <c:dPt>
            <c:idx val="3"/>
            <c:spPr>
              <a:solidFill>
                <a:srgbClr val="9AA3AD"/>
              </a:solidFill>
            </c:spPr>
          </c:dPt>
          <c:dPt>
            <c:idx val="4"/>
            <c:spPr>
              <a:solidFill>
                <a:srgbClr val="9AA3AD"/>
              </a:solidFill>
            </c:spPr>
          </c:dPt>
          <c:dPt>
            <c:idx val="5"/>
            <c:spPr>
              <a:solidFill>
                <a:srgbClr val="C00000"/>
              </a:solidFill>
            </c:spPr>
          </c:dPt>
          <c:dPt>
            <c:idx val="6"/>
            <c:spPr>
              <a:solidFill>
                <a:srgbClr val="9AA3AD"/>
              </a:solidFill>
            </c:spPr>
          </c:dPt>
          <c:dPt>
            <c:idx val="7"/>
            <c:spPr>
              <a:solidFill>
                <a:srgbClr val="9AA3AD"/>
              </a:solidFill>
            </c:spPr>
          </c:dPt>
          <c:cat>
            <c:strRef>
              <c:f>Sheet1!$A$2:$A$9</c:f>
              <c:strCache>
                <c:ptCount val="8"/>
                <c:pt idx="0">
                  <c:v>GARCH(1,1)-t</c:v>
                </c:pt>
                <c:pt idx="1">
                  <c:v>Volatility threshold</c:v>
                </c:pt>
                <c:pt idx="2">
                  <c:v>HMM filter (benchmark)</c:v>
                </c:pt>
                <c:pt idx="3">
                  <c:v>LSTM</c:v>
                </c:pt>
                <c:pt idx="4">
                  <c:v>Transformer</c:v>
                </c:pt>
                <c:pt idx="5">
                  <c:v>LightGBM + HMM (production)</c:v>
                </c:pt>
                <c:pt idx="6">
                  <c:v>XGBoost</c:v>
                </c:pt>
                <c:pt idx="7">
                  <c:v>Soft voting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0.671</c:v>
                </c:pt>
                <c:pt idx="1">
                  <c:v>0.746</c:v>
                </c:pt>
                <c:pt idx="2">
                  <c:v>0.807</c:v>
                </c:pt>
                <c:pt idx="3">
                  <c:v>0.808</c:v>
                </c:pt>
                <c:pt idx="4">
                  <c:v>0.82</c:v>
                </c:pt>
                <c:pt idx="5">
                  <c:v>0.829</c:v>
                </c:pt>
                <c:pt idx="6">
                  <c:v>0.838</c:v>
                </c:pt>
                <c:pt idx="7">
                  <c:v>0.84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>
                  <a:solidFill>
                    <a:srgbClr val="1F1F1F"/>
                  </a:solidFill>
                  <a:latin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AA3AD"/>
            </a:solidFill>
          </a:ln>
        </c:spPr>
        <c:txPr>
          <a:bodyPr/>
          <a:lstStyle/>
          <a:p>
            <a:pPr>
              <a:defRPr sz="1600">
                <a:solidFill>
                  <a:srgbClr val="1F1F1F"/>
                </a:solidFill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55B63"/>
                </a:solidFill>
                <a:latin typeface="Times New Roma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E72CF-FC11-4315-8C4E-40FCEA45108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B4349-B94C-4575-AEF9-114A6A54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8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list of 50 references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B4349-B94C-4575-AEF9-114A6A540A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2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project: VRDet tells an intraday trader every 15 minutes whether the NIFTY 50 is Quiet, Normal or Chaotic, and alerts them when it turns Chaotic.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Motivation: retail losses (SEBI). Key framing: nowcasting, not forecasting. Three regimes defined by an HMM; Chaotic is rare (7.4% of bars) but comes in 342 episodes over 2015-2026.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literature gives us the HMM machinery (Hamilton, Rabiner) and tells us trees usually beat deep nets on tabular data. The gaps on the right are what VRDet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task: y_t is the hindsight label, x_t uses only data up to t. The benchmark is the same HMM run forward in real time; if ML cannot beat it, the HMM alone should power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8 steps. Emphasise: labels come from hindsight decoding, features are causal, so the target is not a function of the inputs (no circularity). Walk-forward means every score is out of sample in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locally on a laptop CPU. Show the Risk Radar live or with replay mode (python app/run.py --replay 2025-04-07) if the market is calm.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numbers from the 2022-2026 walk-forward test (29,625 bars, never used for training). Block bootstrap: 252 weekly blocks, 300 resamples. Production kept LightGBM for the fewest false alarms (0.48/week).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lesson: defining the target carefully, causal features and an honest benchmark matter more than model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Have the dashboard (or replay mode) ready to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57414" y="0"/>
            <a:ext cx="16029940" cy="1522730"/>
          </a:xfrm>
          <a:custGeom>
            <a:avLst/>
            <a:gdLst/>
            <a:ahLst/>
            <a:cxnLst/>
            <a:rect l="l" t="t" r="r" b="b"/>
            <a:pathLst>
              <a:path w="16029940" h="1522730">
                <a:moveTo>
                  <a:pt x="16029377" y="1522536"/>
                </a:moveTo>
                <a:lnTo>
                  <a:pt x="0" y="1522536"/>
                </a:lnTo>
                <a:lnTo>
                  <a:pt x="0" y="0"/>
                </a:lnTo>
                <a:lnTo>
                  <a:pt x="16029377" y="0"/>
                </a:lnTo>
                <a:lnTo>
                  <a:pt x="16029377" y="152253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57414" y="0"/>
            <a:ext cx="16029940" cy="1522730"/>
          </a:xfrm>
          <a:custGeom>
            <a:avLst/>
            <a:gdLst/>
            <a:ahLst/>
            <a:cxnLst/>
            <a:rect l="l" t="t" r="r" b="b"/>
            <a:pathLst>
              <a:path w="16029940" h="1522730">
                <a:moveTo>
                  <a:pt x="16029377" y="1522536"/>
                </a:moveTo>
                <a:lnTo>
                  <a:pt x="0" y="1522536"/>
                </a:lnTo>
                <a:lnTo>
                  <a:pt x="0" y="0"/>
                </a:lnTo>
                <a:lnTo>
                  <a:pt x="16029377" y="0"/>
                </a:lnTo>
                <a:lnTo>
                  <a:pt x="16029377" y="152253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7696" y="-58835"/>
            <a:ext cx="11050269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588" y="1775088"/>
            <a:ext cx="16887607" cy="7296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60128" y="9716549"/>
            <a:ext cx="42849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604078" y="9716549"/>
            <a:ext cx="443039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GC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8788"/>
            <a:ext cx="1783080" cy="15892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3981"/>
            <a:ext cx="1600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Galgotias</a:t>
            </a:r>
            <a:r>
              <a:rPr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 &amp; Technology, </a:t>
            </a:r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Noida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0319" y="1645920"/>
            <a:ext cx="13143506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3600" b="1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Presentation</a:t>
            </a:r>
          </a:p>
          <a:p>
            <a:pPr algn="ctr">
              <a:defRPr sz="2000"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or Internship Assessment (BCS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752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defRPr sz="2000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Title: Real-Time Intraday Volatility Regime Classifier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Team Members: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Abbhinav Bharadwaj – 2300970100003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Abhinav Sharma – 2300970100011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Alok Kumar Priyadarshi – 2300970100033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 Atharva Agrawal – 2300970100070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Guide: Dr. Lopamudra Mohanty, Assistant Professor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b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 202</a:t>
            </a:r>
            <a:r>
              <a:rPr lang="en-US"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r>
              <a:rPr lang="en-US"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(ODD SEM)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C452A46-BFC2-07A6-E2AD-79F3AC086508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22FB90F-9228-AB81-4F93-2FFCCBED53D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4AC1FDB-7B49-1E36-3697-2D52473A5D3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0" y="299902"/>
            <a:ext cx="1105026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C49E2-503E-4576-07BB-DB328AC4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CF64ACDA-4550-E565-C960-A58B600485E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521EA69-4D49-098E-15D0-7F1DE03EC6A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Intro text"/>
          <p:cNvSpPr txBox="1"/>
          <p:nvPr/>
        </p:nvSpPr>
        <p:spPr>
          <a:xfrm>
            <a:off x="731520" y="1828800"/>
            <a:ext cx="877824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C00000"/>
                </a:solidFill>
                <a:latin typeface="Times New Roman"/>
              </a:rPr>
              <a:t>The problem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400" b="0" i="0">
                <a:solidFill>
                  <a:srgbClr val="1F1F1F"/>
                </a:solidFill>
                <a:latin typeface="Times New Roman"/>
              </a:rPr>
              <a:t>93% of individual F&amp;O traders lost money in FY22–24; 70% of intraday cash traders lost money in FY23 (SEBI studies).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400" b="0" i="0">
                <a:solidFill>
                  <a:srgbClr val="1F1F1F"/>
                </a:solidFill>
                <a:latin typeface="Times New Roman"/>
              </a:rPr>
              <a:t>Much of the damage happens in sudden volatility bursts that are hard to recognise while they are happening.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400" b="0" i="0">
                <a:solidFill>
                  <a:srgbClr val="1F1F1F"/>
                </a:solidFill>
                <a:latin typeface="Times New Roman"/>
              </a:rPr>
              <a:t>India VIX is a 30-day measure; a price chart shows the burst only after the damage.</a:t>
            </a:r>
          </a:p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C00000"/>
                </a:solidFill>
                <a:latin typeface="Times New Roman"/>
              </a:rPr>
              <a:t>Our answer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400" b="0" i="0">
                <a:solidFill>
                  <a:srgbClr val="1F1F1F"/>
                </a:solidFill>
                <a:latin typeface="Times New Roman"/>
              </a:rPr>
              <a:t>VRDet classifies the NIFTY 50 every 15 minutes into a volatility regime and alerts on Chaotic. It nowcasts the current state; it does not forecast prices.</a:t>
            </a:r>
          </a:p>
        </p:txBody>
      </p:sp>
      <p:sp>
        <p:nvSpPr>
          <p:cNvPr id="8" name="Regime card Quiet"/>
          <p:cNvSpPr/>
          <p:nvPr/>
        </p:nvSpPr>
        <p:spPr>
          <a:xfrm>
            <a:off x="9966960" y="1920240"/>
            <a:ext cx="758952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95560" y="228600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0" y="205740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1F1F"/>
                </a:solidFill>
                <a:latin typeface="Times New Roman"/>
              </a:rPr>
              <a:t>Quiet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555B63"/>
                </a:solidFill>
                <a:latin typeface="Times New Roman"/>
              </a:rPr>
              <a:t>Small, orderly moves · 49% of bars</a:t>
            </a:r>
          </a:p>
        </p:txBody>
      </p:sp>
      <p:sp>
        <p:nvSpPr>
          <p:cNvPr id="11" name="Regime card Normal"/>
          <p:cNvSpPr/>
          <p:nvPr/>
        </p:nvSpPr>
        <p:spPr>
          <a:xfrm>
            <a:off x="9966960" y="3520440"/>
            <a:ext cx="758952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3886200"/>
            <a:ext cx="640080" cy="640080"/>
          </a:xfrm>
          <a:prstGeom prst="ellipse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365760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1F1F"/>
                </a:solidFill>
                <a:latin typeface="Times New Roman"/>
              </a:rPr>
              <a:t>Normal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555B63"/>
                </a:solidFill>
                <a:latin typeface="Times New Roman"/>
              </a:rPr>
              <a:t>Typical trading · 43% of bars</a:t>
            </a:r>
          </a:p>
        </p:txBody>
      </p:sp>
      <p:sp>
        <p:nvSpPr>
          <p:cNvPr id="14" name="Regime card Chaotic"/>
          <p:cNvSpPr/>
          <p:nvPr/>
        </p:nvSpPr>
        <p:spPr>
          <a:xfrm>
            <a:off x="9966960" y="5120640"/>
            <a:ext cx="7589520" cy="1371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5560" y="5486400"/>
            <a:ext cx="640080" cy="640080"/>
          </a:xfrm>
          <a:prstGeom prst="ellipse">
            <a:avLst/>
          </a:prstGeom>
          <a:solidFill>
            <a:srgbClr val="D93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0" y="5257800"/>
            <a:ext cx="6400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F1F1F"/>
                </a:solidFill>
                <a:latin typeface="Times New Roman"/>
              </a:rPr>
              <a:t>Chaotic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555B63"/>
                </a:solidFill>
                <a:latin typeface="Times New Roman"/>
              </a:rPr>
              <a:t>Violent moves, ~6× Quiet · 7.4% of bars, 342 episodes</a:t>
            </a:r>
          </a:p>
        </p:txBody>
      </p:sp>
      <p:pic>
        <p:nvPicPr>
          <p:cNvPr id="17" name="Picture 16" descr="NIFTY 50 2015-2026 shaded by regi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469" y="6583680"/>
            <a:ext cx="9607061" cy="2514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9052560"/>
            <a:ext cx="1682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i="1">
                <a:solidFill>
                  <a:srgbClr val="555B63"/>
                </a:solidFill>
                <a:latin typeface="Times New Roman"/>
              </a:rPr>
              <a:t>NIFTY 50 15-minute closes, 2015–2026, shaded by the hindsight regime (green Quiet, yellow Normal, red Chaotic)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154758"/>
            <a:ext cx="1105026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1605">
              <a:lnSpc>
                <a:spcPct val="100000"/>
              </a:lnSpc>
              <a:spcBef>
                <a:spcPts val="100"/>
              </a:spcBef>
            </a:pPr>
            <a:r>
              <a:rPr lang="en-US" b="1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65AD2EF-A151-1998-E75B-BA7DC1AC6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FE351054-43B4-F00C-67B3-B2DCA1BD3D7D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4E6DD0C8-B6DA-5C13-7FBB-19B0FEFB00A8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115568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566160"/>
                <a:gridCol w="4297680"/>
              </a:tblGrid>
              <a:tr h="86868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Study</a:t>
                      </a:r>
                    </a:p>
                  </a:txBody>
                  <a:tcPr marL="91440" marR="9144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 marL="91440" marR="91440">
                    <a:solidFill>
                      <a:srgbClr val="C0000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Hamilton (1989)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Markov-switching model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Market regimes as a hidden Markov state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Rabiner (1989)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HMM: forward filter, Viterbi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Real-time (filtered) vs hindsight (decoded) states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Andersen &amp; Bollerslev (1997)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Intraday periodicity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Time-of-day pattern must be removed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Gu, Kelly &amp; Xiu (2020)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12 ML methods on stocks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Tree ensembles and shallow nets perform best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Grinsztajn et al. (2022)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Trees vs deep nets, 45 datasets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Trees still win on tabular data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Gunnarsson et al. (2024)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Review of ML volatility models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LSTM/GRU promising; GARCH/HAR still competitive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Kumar, Rao &amp; Dhochak (2025)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VMD + ANN-LSTM-GRU (NIFTY, INFY)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1F1F"/>
                          </a:solidFill>
                          <a:latin typeface="Times New Roman"/>
                        </a:rPr>
                        <a:t>Hybrid deep model best for volatility forecasts</a:t>
                      </a:r>
                    </a:p>
                  </a:txBody>
                  <a:tcPr marL="91440" marR="9144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Research gaps card"/>
          <p:cNvSpPr/>
          <p:nvPr/>
        </p:nvSpPr>
        <p:spPr>
          <a:xfrm>
            <a:off x="12344400" y="1828800"/>
            <a:ext cx="5303520" cy="6949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0" y="2011680"/>
            <a:ext cx="4846320" cy="6675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C00000"/>
                </a:solidFill>
                <a:latin typeface="Times New Roman"/>
              </a:rPr>
              <a:t>Research gaps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Most work forecasts a volatility number; few recognise the current regime in real time.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Regime papers report hindsight states that use future data.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Little intraday (15-minute) regime work on the NIFTY 50 with India VIX.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Deep models often compared on one split, without confidence intervals.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200" b="0" i="0">
                <a:solidFill>
                  <a:srgbClr val="1F1F1F"/>
                </a:solidFill>
                <a:latin typeface="Times New Roman"/>
              </a:rPr>
              <a:t>No free, local tool for retail traders.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DB843-9DA1-FA07-3A7C-BFA7FB7B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3AB688-FFDF-14F6-E83F-2DA5AB0DFF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03120" y="199363"/>
            <a:ext cx="1591055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1320" algn="l">
              <a:lnSpc>
                <a:spcPct val="100000"/>
              </a:lnSpc>
              <a:spcBef>
                <a:spcPts val="100"/>
              </a:spcBef>
            </a:pPr>
            <a:r>
              <a:rPr lang="en-US"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&amp; Objectives</a:t>
            </a:r>
            <a:endParaRPr spc="-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6BB011-1915-705C-80BE-3B1B7D9EF0E1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847859D-8FAF-EE42-8FC9-74CFE95D3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D5ECD7B6-9027-6CB9-67CE-17D9117D5D6B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EC494FCD-E330-BD47-2BD9-84D599690D34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roblem statement card"/>
          <p:cNvSpPr/>
          <p:nvPr/>
        </p:nvSpPr>
        <p:spPr>
          <a:xfrm>
            <a:off x="731520" y="1828800"/>
            <a:ext cx="7863840" cy="3017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7406640" cy="2834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C00000"/>
                </a:solidFill>
                <a:latin typeface="Times New Roman"/>
              </a:rPr>
              <a:t>Problem statement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Using only data up to bar t (NIFTY 50 and India VIX 15-minute candles, USD/INR and Brent daily), recover the regime that a hindsight HMM assigns to bar t, with high macro-F1, short delay and few false alarms, and show it to the trader within a minute of the bar closing.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786384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C00000"/>
                </a:solidFill>
                <a:latin typeface="Times New Roman"/>
              </a:rPr>
              <a:t>Objectives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Validated 11-year intraday archive from Angel One SmartAPI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Credible hindsight labels (3-state HMM), checked on shock days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Strictly causal features: bar t uses data ≤ t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Beat the HMM-filter benchmark in a walk-forward test, 2022–26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Compare 22 models with confidence intervals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100" b="0" i="0">
                <a:solidFill>
                  <a:srgbClr val="1F1F1F"/>
                </a:solidFill>
                <a:latin typeface="Times New Roman"/>
              </a:rPr>
              <a:t>Local Streamlit dashboard on live data with alerts</a:t>
            </a:r>
          </a:p>
        </p:txBody>
      </p:sp>
      <p:pic>
        <p:nvPicPr>
          <p:cNvPr id="11" name="Picture 10" descr="Inputs, processes and outpu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839528"/>
            <a:ext cx="8686800" cy="4927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61120" y="88239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i="1">
                <a:solidFill>
                  <a:srgbClr val="555B63"/>
                </a:solidFill>
                <a:latin typeface="Times New Roman"/>
              </a:rPr>
              <a:t>Inputs → processes → outputs</a:t>
            </a:r>
          </a:p>
        </p:txBody>
      </p:sp>
    </p:spTree>
    <p:extLst>
      <p:ext uri="{BB962C8B-B14F-4D97-AF65-F5344CB8AC3E}">
        <p14:creationId xmlns:p14="http://schemas.microsoft.com/office/powerpoint/2010/main" val="373454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839" y="121610"/>
            <a:ext cx="1752600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1610" algn="ctr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rgbClr val="FFFFFF"/>
                </a:solidFill>
              </a:rPr>
              <a:t>Methodology/ System Design/ Architecture</a:t>
            </a:r>
            <a:endParaRPr b="1" spc="-4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5E43053-2534-3E16-CF4B-1392B1AA4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C2F67667-8143-474C-6063-8DE21E5E601D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970E07E-367F-067E-163A-259E40596D40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1520" y="190195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Download NIFTY 50 + India VIX 15-min candles (2015–26), USD/INR + Brent daily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98064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24912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Validate each session against official daily candles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94176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21024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Build 53 causal features (deseasonalised returns, range volatility, VIX, calendar, lags)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59028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17136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Label every bar: 3-state sticky HMM, Viterbi + 4-bar minimum (fitted 2015–21)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486400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13248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Add the HMM forward-filter probabilities → 56 inputs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638251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309360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Walk-forward: train on 2017..Y−1, tune τ on last year, test year Y (2022–26)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7278624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7205472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Score vs hindsight labels; bootstrap CIs; pick production model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8174736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8101583"/>
            <a:ext cx="73152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Freeze model; live loop: fetch → features → score → alert → dashboard</a:t>
            </a:r>
          </a:p>
        </p:txBody>
      </p:sp>
      <p:pic>
        <p:nvPicPr>
          <p:cNvPr id="23" name="Picture 22" descr="Filtered vs smoothed HMM probabilities, April 20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446020"/>
            <a:ext cx="8503920" cy="4251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0" y="7315200"/>
            <a:ext cx="8503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i="1">
                <a:solidFill>
                  <a:srgbClr val="555B63"/>
                </a:solidFill>
                <a:latin typeface="Times New Roman"/>
              </a:rPr>
              <a:t>Same HMM, two views: real-time filter (wavers) vs hindsight smoother (decisive), 7 Apr 2025</a:t>
            </a:r>
          </a:p>
        </p:txBody>
      </p:sp>
      <p:sp>
        <p:nvSpPr>
          <p:cNvPr id="25" name="Key idea card"/>
          <p:cNvSpPr/>
          <p:nvPr/>
        </p:nvSpPr>
        <p:spPr>
          <a:xfrm>
            <a:off x="9144000" y="7863840"/>
            <a:ext cx="8503920" cy="14630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7955279"/>
            <a:ext cx="81381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00000"/>
                </a:solidFill>
                <a:latin typeface="Times New Roman"/>
              </a:rPr>
              <a:t>Key idea: </a:t>
            </a:r>
            <a:r>
              <a:rPr sz="2000" b="0" i="0">
                <a:solidFill>
                  <a:srgbClr val="1F1F1F"/>
                </a:solidFill>
                <a:latin typeface="Times New Roman"/>
              </a:rPr>
              <a:t>truth = HMM in hindsight; benchmark = the same HMM in real time; the classifier must close the gap (filter agrees 85%, smoother 95%).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</a:t>
            </a:r>
            <a:r>
              <a:rPr lang="en-US" b="1" spc="-10" dirty="0">
                <a:solidFill>
                  <a:srgbClr val="FFFFFF"/>
                </a:solidFill>
              </a:rPr>
              <a:t>Implementation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7973EE-E955-9D6D-2764-0976B05B5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9EE0FD8D-48FE-4017-4E41-0E92C9D6ABA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10C4B4-6965-CD16-7644-E535612B91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 descr="Risk Radar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939" y="1828800"/>
            <a:ext cx="8272040" cy="7315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9098280"/>
            <a:ext cx="9326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i="1">
                <a:solidFill>
                  <a:srgbClr val="555B63"/>
                </a:solidFill>
                <a:latin typeface="Times New Roman"/>
              </a:rPr>
              <a:t>Risk Radar: live regime, P(Chaotic), regime-shaded chart, truth row</a:t>
            </a:r>
          </a:p>
        </p:txBody>
      </p:sp>
      <p:sp>
        <p:nvSpPr>
          <p:cNvPr id="9" name="Impl card Data"/>
          <p:cNvSpPr/>
          <p:nvPr/>
        </p:nvSpPr>
        <p:spPr>
          <a:xfrm>
            <a:off x="10424160" y="1828800"/>
            <a:ext cx="722376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0" y="1901952"/>
            <a:ext cx="68580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Data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1F1F"/>
                </a:solidFill>
                <a:latin typeface="Times New Roman"/>
              </a:rPr>
              <a:t>Angel One SmartAPI (TOTP login, chunked requests), yfinance; Parquet archive</a:t>
            </a:r>
          </a:p>
        </p:txBody>
      </p:sp>
      <p:sp>
        <p:nvSpPr>
          <p:cNvPr id="11" name="Impl card Models"/>
          <p:cNvSpPr/>
          <p:nvPr/>
        </p:nvSpPr>
        <p:spPr>
          <a:xfrm>
            <a:off x="10424160" y="3310128"/>
            <a:ext cx="722376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3383280"/>
            <a:ext cx="68580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Models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1F1F"/>
                </a:solidFill>
                <a:latin typeface="Times New Roman"/>
              </a:rPr>
              <a:t>Python 3.13, scikit-learn, LightGBM, XGBoost, CatBoost, PyTorch, hmmlearn</a:t>
            </a:r>
          </a:p>
        </p:txBody>
      </p:sp>
      <p:sp>
        <p:nvSpPr>
          <p:cNvPr id="13" name="Impl card Live runner"/>
          <p:cNvSpPr/>
          <p:nvPr/>
        </p:nvSpPr>
        <p:spPr>
          <a:xfrm>
            <a:off x="10424160" y="4791456"/>
            <a:ext cx="722376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4864608"/>
            <a:ext cx="68580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Live runner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1F1F"/>
                </a:solidFill>
                <a:latin typeface="Times New Roman"/>
              </a:rPr>
              <a:t>Every bar close + 45 s; one cycle ≈ 12 s; alerts with 4-bar hysteresis</a:t>
            </a:r>
          </a:p>
        </p:txBody>
      </p:sp>
      <p:sp>
        <p:nvSpPr>
          <p:cNvPr id="15" name="Impl card Dashboard"/>
          <p:cNvSpPr/>
          <p:nvPr/>
        </p:nvSpPr>
        <p:spPr>
          <a:xfrm>
            <a:off x="10424160" y="6272784"/>
            <a:ext cx="722376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6345936"/>
            <a:ext cx="68580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Dashboard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1F1F"/>
                </a:solidFill>
                <a:latin typeface="Times New Roman"/>
              </a:rPr>
              <a:t>Streamlit, 127.0.0.1 only: Risk Radar, Model Lab (22 models, one-at-a-time queue), Stock Lab (~2,700 NSE stocks)</a:t>
            </a:r>
          </a:p>
        </p:txBody>
      </p:sp>
      <p:sp>
        <p:nvSpPr>
          <p:cNvPr id="17" name="Impl card Safety"/>
          <p:cNvSpPr/>
          <p:nvPr/>
        </p:nvSpPr>
        <p:spPr>
          <a:xfrm>
            <a:off x="10424160" y="7754112"/>
            <a:ext cx="7223760" cy="1325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0" y="7827264"/>
            <a:ext cx="68580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Safety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F1F1F"/>
                </a:solidFill>
                <a:latin typeface="Times New Roman"/>
              </a:rPr>
              <a:t>Credentials in git-ignored .env; same feature code in training and live (verified: max difference 0.0)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8BEC-1BB8-FD24-5A97-13AFA4B7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2B3A6A-E40E-0FA5-868B-6B9A182DD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9400" y="232584"/>
            <a:ext cx="1105026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</a:t>
            </a:r>
            <a:r>
              <a:rPr lang="en-US" b="1" spc="-10" dirty="0">
                <a:solidFill>
                  <a:srgbClr val="FFFFFF"/>
                </a:solidFill>
              </a:rPr>
              <a:t>Results/ Discussion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BB86F3F-B288-DB7D-A4E8-C412223817F5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5F8D168-BC77-29CF-590A-F6298A54B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98F314E8-759E-B0A9-A080-68DFFAE2959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EF6B8696-24B7-DD2A-A15A-0DEA1B4235F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Stat macro-F1"/>
          <p:cNvSpPr/>
          <p:nvPr/>
        </p:nvSpPr>
        <p:spPr>
          <a:xfrm>
            <a:off x="731520" y="1828800"/>
            <a:ext cx="1965960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874519" cy="2240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 i="0">
                <a:solidFill>
                  <a:srgbClr val="C00000"/>
                </a:solidFill>
                <a:latin typeface="Times New Roman"/>
              </a:rPr>
              <a:t>0.829</a:t>
            </a:r>
          </a:p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macro-F1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555B63"/>
                </a:solidFill>
                <a:latin typeface="Times New Roman"/>
              </a:rPr>
              <a:t>HMM filter 0.807</a:t>
            </a:r>
          </a:p>
        </p:txBody>
      </p:sp>
      <p:sp>
        <p:nvSpPr>
          <p:cNvPr id="9" name="Stat false alarms / week"/>
          <p:cNvSpPr/>
          <p:nvPr/>
        </p:nvSpPr>
        <p:spPr>
          <a:xfrm>
            <a:off x="2880360" y="1828800"/>
            <a:ext cx="1965960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1874519" cy="2240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 i="0">
                <a:solidFill>
                  <a:srgbClr val="C00000"/>
                </a:solidFill>
                <a:latin typeface="Times New Roman"/>
              </a:rPr>
              <a:t>0.48</a:t>
            </a:r>
          </a:p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false alarms / week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555B63"/>
                </a:solidFill>
                <a:latin typeface="Times New Roman"/>
              </a:rPr>
              <a:t>HMM filter 1.45</a:t>
            </a:r>
          </a:p>
        </p:txBody>
      </p:sp>
      <p:sp>
        <p:nvSpPr>
          <p:cNvPr id="11" name="Stat Chaotic episodes caught"/>
          <p:cNvSpPr/>
          <p:nvPr/>
        </p:nvSpPr>
        <p:spPr>
          <a:xfrm>
            <a:off x="5029200" y="1828800"/>
            <a:ext cx="1965960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920240"/>
            <a:ext cx="1874519" cy="2240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 i="0">
                <a:solidFill>
                  <a:srgbClr val="C00000"/>
                </a:solidFill>
                <a:latin typeface="Times New Roman"/>
              </a:rPr>
              <a:t>95.5%</a:t>
            </a:r>
          </a:p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Chaotic episodes caught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555B63"/>
                </a:solidFill>
                <a:latin typeface="Times New Roman"/>
              </a:rPr>
              <a:t>134 test episodes</a:t>
            </a:r>
          </a:p>
        </p:txBody>
      </p:sp>
      <p:sp>
        <p:nvSpPr>
          <p:cNvPr id="13" name="Stat median detection delay"/>
          <p:cNvSpPr/>
          <p:nvPr/>
        </p:nvSpPr>
        <p:spPr>
          <a:xfrm>
            <a:off x="7178040" y="1828800"/>
            <a:ext cx="1965960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920240"/>
            <a:ext cx="1874519" cy="2240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 i="0">
                <a:solidFill>
                  <a:srgbClr val="C00000"/>
                </a:solidFill>
                <a:latin typeface="Times New Roman"/>
              </a:rPr>
              <a:t>1 bar</a:t>
            </a:r>
          </a:p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1F1F1F"/>
                </a:solidFill>
                <a:latin typeface="Times New Roman"/>
              </a:rPr>
              <a:t>median detection delay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555B63"/>
                </a:solidFill>
                <a:latin typeface="Times New Roman"/>
              </a:rPr>
              <a:t>15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841248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C00000"/>
                </a:solidFill>
                <a:latin typeface="Times New Roman"/>
              </a:rPr>
              <a:t>Discussion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Production LightGBM + HMM beats the HMM filter in every test year and cuts false alarms by two thirds.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Of 22 models, 20 beat the benchmark; only soft voting and XGBoost are significantly better (+0.01). Most are statistically tied.</a:t>
            </a:r>
          </a:p>
          <a:p>
            <a:pPr algn="l" marL="365760" indent="-365760">
              <a:spcAft>
                <a:spcPts val="800"/>
              </a:spcAft>
              <a:buChar char="•"/>
            </a:pPr>
            <a:r>
              <a:rPr sz="2000" b="0" i="0">
                <a:solidFill>
                  <a:srgbClr val="1F1F1F"/>
                </a:solidFill>
                <a:latin typeface="Times New Roman"/>
              </a:rPr>
              <a:t>LSTM and GRU are significantly worse; learning curves show the limit is the number of Chaotic episodes, not bars.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9509760" y="1828800"/>
          <a:ext cx="8138160" cy="7406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17716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59F4-1DC7-63BA-822C-9A7799B7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B0CB5A-DA18-FA42-4504-386E36EF2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210282"/>
            <a:ext cx="1209250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</a:t>
            </a:r>
            <a:r>
              <a:rPr lang="en-US" b="1" spc="-10" dirty="0">
                <a:solidFill>
                  <a:srgbClr val="FFFFFF"/>
                </a:solidFill>
              </a:rPr>
              <a:t>Conclusion/ Future Work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8A213D-1BCC-6848-38EA-DDD6DFD1C3CB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096C4DC-2EBF-D72E-C13B-B7B59582C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A49B006C-9DB3-9B9F-7D93-B51DEFE372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6293A255-7C83-F4C8-37D3-18E9AE2464F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Conclusion card"/>
          <p:cNvSpPr/>
          <p:nvPr/>
        </p:nvSpPr>
        <p:spPr>
          <a:xfrm>
            <a:off x="731520" y="1828800"/>
            <a:ext cx="5440680" cy="7498079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983480" cy="7223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C00000"/>
                </a:solidFill>
                <a:latin typeface="Times New Roman"/>
              </a:rPr>
              <a:t>Conclusion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Validated 11-year NIFTY 50 + India VIX intraday dataset; vendor defects found and fixed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Credible hindsight regimes: all 10 major shock days flagged Chaotic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Real-time classifier beats the honest benchmark: 0.829 vs 0.807 macro-F1, 0.48 vs 1.45 false alarms/week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Small, well-validated models are enough; deep models are not better with this much data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Working local app: Risk Radar, alerts, Model Lab, Stock Lab</a:t>
            </a:r>
          </a:p>
        </p:txBody>
      </p:sp>
      <p:sp>
        <p:nvSpPr>
          <p:cNvPr id="9" name="Limitations card"/>
          <p:cNvSpPr/>
          <p:nvPr/>
        </p:nvSpPr>
        <p:spPr>
          <a:xfrm>
            <a:off x="6446520" y="1828800"/>
            <a:ext cx="5440680" cy="7498079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983480" cy="7223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C00000"/>
                </a:solidFill>
                <a:latin typeface="Times New Roman"/>
              </a:rPr>
              <a:t>Limitations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Truth is itself a model (HMM); other labelers disagree (κ ≈ 0.5)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Few episodes (134 in test) make small differences unresolvable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Detects chaos once it starts (1-bar delay); cannot warn before the first violent bar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Single-broker data dependence; stocks are harder than the index</a:t>
            </a:r>
          </a:p>
        </p:txBody>
      </p:sp>
      <p:sp>
        <p:nvSpPr>
          <p:cNvPr id="11" name="Future work card"/>
          <p:cNvSpPr/>
          <p:nvPr/>
        </p:nvSpPr>
        <p:spPr>
          <a:xfrm>
            <a:off x="12161520" y="1828800"/>
            <a:ext cx="5440680" cy="7498079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0120" y="2011680"/>
            <a:ext cx="4983480" cy="7223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C00000"/>
                </a:solidFill>
                <a:latin typeface="Times New Roman"/>
              </a:rPr>
              <a:t>Future work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Early warning model for the next bars, with event calendars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Futures OI, option skew, breadth and news sentiment as inputs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Embargoed validation, calibration and input-group ablations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Pooled training across stocks to get more Chaotic episodes</a:t>
            </a:r>
          </a:p>
          <a:p>
            <a:pPr algn="l" marL="365760" indent="-365760">
              <a:spcAft>
                <a:spcPts val="1600"/>
              </a:spcAft>
              <a:buChar char="•"/>
            </a:pPr>
            <a:r>
              <a:rPr sz="2300" b="0" i="0">
                <a:solidFill>
                  <a:srgbClr val="1F1F1F"/>
                </a:solidFill>
                <a:latin typeface="Times New Roman"/>
              </a:rPr>
              <a:t>Soft-voting ensemble in production; secure multi-user deployment</a:t>
            </a:r>
          </a:p>
        </p:txBody>
      </p:sp>
    </p:spTree>
    <p:extLst>
      <p:ext uri="{BB962C8B-B14F-4D97-AF65-F5344CB8AC3E}">
        <p14:creationId xmlns:p14="http://schemas.microsoft.com/office/powerpoint/2010/main" val="2171122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E041-EC75-8B5C-D097-4390D4BF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D48CDC-BE23-020C-9DA1-1BAC4E064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426940"/>
            <a:ext cx="1105026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solidFill>
                  <a:srgbClr val="FFFFFF"/>
                </a:solidFill>
              </a:rPr>
              <a:t>References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CDFE39-82BE-CC52-70F4-ADD62A095B35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4F24449-161B-943D-5256-496B0D955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40FAB8AD-6278-1759-3E0D-574EAB3D621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3F61C239-3E4D-51A5-FA9D-5C383839A89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6824960" cy="7589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[1]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J.D. Hamilton (1989), A new approach to the economic analysis of nonstationary time series and the business cycle, Econometrica 57(2).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[2]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L.R. Rabiner (1989), A tutorial on hidden Markov models and selected applications in speech recognition, Proc. IEEE 77(2).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[3]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M.B. Garman and M.J. Klass (1980), On the estimation of security price volatilities from historical data, J. Business 53(1).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[4]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T.G. Andersen and T. Bollerslev (1997), Intraday periodicity and volatility persistence in financial markets, J. Empirical Finance 4.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[5]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G. Ke et al. (2017), LightGBM: a highly efficient gradient boosting decision tree, NeurIPS 30.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[6]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S. Gu, B. Kelly and D. Xiu (2020), Empirical asset pricing via machine learning, Review of Financial Studies 33(5).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[7]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L. Grinsztajn, E. Oyallon and G. Varoquaux (2022), Why do tree-based models still outperform deep learning on tabular data?, NeurIPS 35.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[8]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E.S. Gunnarsson et al. (2024), Prediction of realized volatility and implied volatility indices using AI and ML: a review, IRFA 93.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[9]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S. Kumar, A. Rao and M. Dhochak (2025), Hybrid ML models for volatility prediction in financial risk management, IREF 98.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[10]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M. López de Prado (2018), Advances in Financial Machine Learning, Wiley.</a:t>
            </a:r>
          </a:p>
          <a:p>
            <a:pPr algn="l">
              <a:spcAft>
                <a:spcPts val="1200"/>
              </a:spcAft>
            </a:pPr>
            <a:r>
              <a:rPr sz="2200" b="1" i="0">
                <a:solidFill>
                  <a:srgbClr val="C00000"/>
                </a:solidFill>
                <a:latin typeface="Times New Roman"/>
              </a:rPr>
              <a:t>[11]  </a:t>
            </a:r>
            <a:r>
              <a:rPr sz="2200" b="0" i="0">
                <a:solidFill>
                  <a:srgbClr val="1F1F1F"/>
                </a:solidFill>
                <a:latin typeface="Times New Roman"/>
              </a:rPr>
              <a:t>SEBI (2024), Analysis of profit and loss of individual traders dealing in equity F&amp;O segment, FY22–FY24.</a:t>
            </a:r>
          </a:p>
        </p:txBody>
      </p:sp>
    </p:spTree>
    <p:extLst>
      <p:ext uri="{BB962C8B-B14F-4D97-AF65-F5344CB8AC3E}">
        <p14:creationId xmlns:p14="http://schemas.microsoft.com/office/powerpoint/2010/main" val="275645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6890" y="3427186"/>
            <a:ext cx="775271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9510" algn="l"/>
              </a:tabLst>
            </a:pPr>
            <a:r>
              <a:rPr sz="14400" i="1" spc="-10" dirty="0">
                <a:latin typeface="Calibri"/>
                <a:cs typeface="Calibri"/>
              </a:rPr>
              <a:t>Thank</a:t>
            </a:r>
            <a:r>
              <a:rPr sz="14400" i="1" dirty="0">
                <a:latin typeface="Calibri"/>
                <a:cs typeface="Calibri"/>
              </a:rPr>
              <a:t>	</a:t>
            </a:r>
            <a:r>
              <a:rPr sz="14400" i="1" spc="-25" dirty="0">
                <a:latin typeface="Calibri"/>
                <a:cs typeface="Calibri"/>
              </a:rPr>
              <a:t>You</a:t>
            </a:r>
            <a:endParaRPr sz="14400">
              <a:latin typeface="Calibri"/>
              <a:cs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D5B66CD-83D8-376C-2E68-96361F845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8">
            <a:extLst>
              <a:ext uri="{FF2B5EF4-FFF2-40B4-BE49-F238E27FC236}">
                <a16:creationId xmlns:a16="http://schemas.microsoft.com/office/drawing/2014/main" id="{2A8B24D2-966C-446D-6A33-2B5FD629D1D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7CEFBD0C-CCC5-7CD8-A0D6-1C54EAD811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06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322</Words>
  <Application>Microsoft Office PowerPoint</Application>
  <PresentationFormat>Custom</PresentationFormat>
  <Paragraphs>78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Black</vt:lpstr>
      <vt:lpstr>Calibri</vt:lpstr>
      <vt:lpstr>Tahoma</vt:lpstr>
      <vt:lpstr>Times New Roman</vt:lpstr>
      <vt:lpstr>Wingdings</vt:lpstr>
      <vt:lpstr>Office Theme</vt:lpstr>
      <vt:lpstr>PowerPoint Presentation</vt:lpstr>
      <vt:lpstr>Mini Project (BCS- 752)</vt:lpstr>
      <vt:lpstr>Introduction</vt:lpstr>
      <vt:lpstr>Literature Survey</vt:lpstr>
      <vt:lpstr>Problem Formulation</vt:lpstr>
      <vt:lpstr>Objectives</vt:lpstr>
      <vt:lpstr>Methodology/ System Design/ Architecture</vt:lpstr>
      <vt:lpstr>             Implementation</vt:lpstr>
      <vt:lpstr>             Results/ Discussion</vt:lpstr>
      <vt:lpstr>             Conclusion/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Presentation On Project Title Name Submitted by &lt;NAME&gt; &lt;Roll No:&gt; &lt;NAME&gt; &lt;Roll No:&gt; &lt;NAME&gt; &lt;Roll No:&gt; Under the Supervision of Project Guide (Designation) Galgotias College of Engineering &amp; Technology Greater Noida, Uttar Pradesh</dc:title>
  <dc:creator>anjali pandey</dc:creator>
  <cp:keywords>DAG1yZ_u9xI,BAGRR57OpLo,0</cp:keywords>
  <cp:lastModifiedBy>DELL</cp:lastModifiedBy>
  <cp:revision>11</cp:revision>
  <dcterms:created xsi:type="dcterms:W3CDTF">2025-10-15T16:10:22Z</dcterms:created>
  <dcterms:modified xsi:type="dcterms:W3CDTF">2026-10-28T07:32:36Z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2025-10-15T00:00:00Z</vt:filetime>
  </property>
  <property fmtid="{D5CDD505-2E9C-101B-9397-08002B2CF9AE}" pid="5" name="Producer">
    <vt:lpwstr>Canva</vt:lpwstr>
  </property>
</Properties>
</file>